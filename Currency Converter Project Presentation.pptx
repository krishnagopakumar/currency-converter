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JetBrains Mono"/>
      <p:regular r:id="rId16"/>
    </p:embeddedFont>
    <p:embeddedFont>
      <p:font typeface="Plus Jakarta Sans"/>
      <p:bold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474815"/>
            <a:ext cx="10972800" cy="704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678334"/>
            <a:ext cx="2257425" cy="2857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47481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2192684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Plus Jakarta Sans"/>
              </a:rPr>
              <a:t>Command-Line Currency Exchange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522315"/>
            <a:ext cx="7239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 modular, O(1) time-complexity Python implementation for reliable multi-currency conversion, transaction logging, and input validation.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735484"/>
            <a:ext cx="20478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VITYARTHI PROJECT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1325" y="1735484"/>
            <a:ext cx="2405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94A3B8"/>
                </a:solidFill>
                <a:latin typeface="Plus Jakarta Sans"/>
              </a:rPr>
              <a:t>15-Point Guidelines Compliant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751040"/>
            <a:ext cx="2357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COURSE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960590"/>
            <a:ext cx="2357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Build Your Own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0350" y="4751040"/>
            <a:ext cx="33456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00350" y="4960590"/>
            <a:ext cx="33456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Python 3.x Modular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81675" y="4751040"/>
            <a:ext cx="273843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DATA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81675" y="4960590"/>
            <a:ext cx="2738437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1F5F9"/>
                </a:solidFill>
                <a:latin typeface="Plus Jakarta Sans"/>
              </a:rPr>
              <a:t>Hash Map &amp; Sequential 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95575"/>
            <a:ext cx="3505200" cy="240030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695575"/>
            <a:ext cx="3505200" cy="240030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695575"/>
            <a:ext cx="3505200" cy="2400300"/>
          </a:xfrm>
          <a:prstGeom prst="roundRect">
            <a:avLst>
              <a:gd name="adj" fmla="val 476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009900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009900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009900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3143250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887" y="3143250"/>
            <a:ext cx="1428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4875" y="3143250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SECTION 2.0 &amp; 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Introduction &amp; 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65760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The Core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4010025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Manual exchange conversion causes math errors and invalid inputs crash simple CLI programs.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365760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The Proposed 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4010025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Defensive CLI application with anchored USD conversion matrix and session tracking.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1525" y="3657600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Target 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4010025"/>
            <a:ext cx="29718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Instant currency lookup, safe user input parsing, and in-memory transaction history.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26258"/>
            <a:ext cx="3505200" cy="1938932"/>
          </a:xfrm>
          <a:prstGeom prst="roundRect">
            <a:avLst>
              <a:gd name="adj" fmla="val 58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26258"/>
            <a:ext cx="3505200" cy="1938932"/>
          </a:xfrm>
          <a:prstGeom prst="roundRect">
            <a:avLst>
              <a:gd name="adj" fmla="val 58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26258"/>
            <a:ext cx="3505200" cy="1938932"/>
          </a:xfrm>
          <a:prstGeom prst="roundRect">
            <a:avLst>
              <a:gd name="adj" fmla="val 589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3183433"/>
            <a:ext cx="895350" cy="247650"/>
          </a:xfrm>
          <a:prstGeom prst="roundRect">
            <a:avLst>
              <a:gd name="adj" fmla="val 2307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19625" y="3183433"/>
            <a:ext cx="914400" cy="247650"/>
          </a:xfrm>
          <a:prstGeom prst="roundRect">
            <a:avLst>
              <a:gd name="adj" fmla="val 2307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53425" y="3183433"/>
            <a:ext cx="923925" cy="247650"/>
          </a:xfrm>
          <a:prstGeom prst="roundRect">
            <a:avLst>
              <a:gd name="adj" fmla="val 2307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SECTION 4.0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Functional Requirements Breakdown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221533"/>
            <a:ext cx="762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Module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554908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Currency Conversion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869233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Computes cross-rate values via USD standard baseline mapping.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3925" y="3221533"/>
            <a:ext cx="78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Module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554908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Directory &amp; Exchange Lookup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869233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Iterates active currency codes directly from the dictionary 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7725" y="3221533"/>
            <a:ext cx="7905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Module 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554908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Session Transaction Tracker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869233"/>
            <a:ext cx="3048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Logs conversion records sequentially during active program execution.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76600"/>
            <a:ext cx="2600325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276600"/>
            <a:ext cx="2600325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276600"/>
            <a:ext cx="2600325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276600"/>
            <a:ext cx="2600325" cy="123825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4505325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3276600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276600"/>
            <a:ext cx="9525" cy="1238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200400" y="3276600"/>
            <a:ext cx="9525" cy="1238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400425" y="4505325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400425" y="3276600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00425" y="3276600"/>
            <a:ext cx="9525" cy="1238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991225" y="3276600"/>
            <a:ext cx="9525" cy="1238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91250" y="4505325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1250" y="3276600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91250" y="3276600"/>
            <a:ext cx="9525" cy="1238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82050" y="3276600"/>
            <a:ext cx="9525" cy="1238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982075" y="4505325"/>
            <a:ext cx="26003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982075" y="3276600"/>
            <a:ext cx="2600325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82075" y="3276600"/>
            <a:ext cx="9525" cy="1238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1572875" y="3276600"/>
            <a:ext cx="9525" cy="12382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SECTION 5.0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Non-Functional System Attributes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54330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Performance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838575"/>
            <a:ext cx="22193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O(1) hash table rate lookup execution speed.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38550" y="354330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Usability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38550" y="3838575"/>
            <a:ext cx="22193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Clean terminal menu with prompt formatting.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29375" y="354330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Reliability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9375" y="3838575"/>
            <a:ext cx="22193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Graceful error catching without application crash.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0200" y="3543300"/>
            <a:ext cx="278784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Maintainability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20200" y="3838575"/>
            <a:ext cx="221932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Modular function design with clear docstrings.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343275"/>
            <a:ext cx="240030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67100" y="3233737"/>
            <a:ext cx="2400300" cy="1323975"/>
          </a:xfrm>
          <a:prstGeom prst="roundRect">
            <a:avLst>
              <a:gd name="adj" fmla="val 7194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324600" y="3343275"/>
            <a:ext cx="240030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82100" y="3343275"/>
            <a:ext cx="2400300" cy="1104900"/>
          </a:xfrm>
          <a:prstGeom prst="roundRect">
            <a:avLst>
              <a:gd name="adj" fmla="val 862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300" y="3810000"/>
            <a:ext cx="15240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3810000"/>
            <a:ext cx="152400" cy="1714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7300" y="3810000"/>
            <a:ext cx="152400" cy="171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SECTION 6.0 &amp; 7.0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System Architecture &amp; Process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9593" y="3543300"/>
            <a:ext cx="2500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STEP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085" y="3752850"/>
            <a:ext cx="262532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Main Menu Loop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9593" y="4029075"/>
            <a:ext cx="2500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Option selection (1-4)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7093" y="3433762"/>
            <a:ext cx="2500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STEP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4585" y="3643312"/>
            <a:ext cx="262532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Validation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17093" y="3919537"/>
            <a:ext cx="2500312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Key checks &amp; numeric float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4593" y="3543300"/>
            <a:ext cx="2500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STEP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2085" y="3752850"/>
            <a:ext cx="262532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Conversion 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4593" y="4029075"/>
            <a:ext cx="2500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USD pivot rate math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093" y="3543300"/>
            <a:ext cx="2500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2563EB"/>
                </a:solidFill>
                <a:latin typeface="Plus Jakarta Sans"/>
              </a:rPr>
              <a:t>STEP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9585" y="3752850"/>
            <a:ext cx="262532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 u="none">
                <a:solidFill>
                  <a:srgbClr val="0F172A"/>
                </a:solidFill>
                <a:latin typeface="Plus Jakarta Sans"/>
              </a:rPr>
              <a:t>History Logging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32093" y="4029075"/>
            <a:ext cx="250031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64748B"/>
                </a:solidFill>
                <a:latin typeface="Plus Jakarta Sans"/>
              </a:rPr>
              <a:t>Append to array buffer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83421"/>
            <a:ext cx="3505200" cy="1624607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083421"/>
            <a:ext cx="3505200" cy="1624607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083421"/>
            <a:ext cx="3505200" cy="1624607"/>
          </a:xfrm>
          <a:prstGeom prst="roundRect">
            <a:avLst>
              <a:gd name="adj" fmla="val 703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SECTION 7.0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UML System Design Mapping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359646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Use Case Diagram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12071"/>
            <a:ext cx="3048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User triggers currency lookup, conversion execution, or session history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359646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Component Diagram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12071"/>
            <a:ext cx="3048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UI menu module connected to exchange rates dictionary and history list buffer.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359646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Sequence Diagram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12071"/>
            <a:ext cx="3048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Sequential calls from `main()` -&gt; `process_conversion()` -&gt; `convert_currency()`.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65239"/>
            <a:ext cx="5353050" cy="2060971"/>
          </a:xfrm>
          <a:prstGeom prst="roundRect">
            <a:avLst>
              <a:gd name="adj" fmla="val 554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865239"/>
            <a:ext cx="5353050" cy="2060971"/>
          </a:xfrm>
          <a:prstGeom prst="roundRect">
            <a:avLst>
              <a:gd name="adj" fmla="val 5545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925" y="4211835"/>
            <a:ext cx="4724400" cy="400050"/>
          </a:xfrm>
          <a:prstGeom prst="roundRect">
            <a:avLst>
              <a:gd name="adj" fmla="val 1428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43675" y="4211835"/>
            <a:ext cx="4724400" cy="400050"/>
          </a:xfrm>
          <a:prstGeom prst="roundRect">
            <a:avLst>
              <a:gd name="adj" fmla="val 14285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448175" y="3179564"/>
            <a:ext cx="1200150" cy="247650"/>
          </a:xfrm>
          <a:prstGeom prst="roundRect">
            <a:avLst>
              <a:gd name="adj" fmla="val 23076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115550" y="3179564"/>
            <a:ext cx="1152525" cy="247650"/>
          </a:xfrm>
          <a:prstGeom prst="roundRect">
            <a:avLst>
              <a:gd name="adj" fmla="val 23076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SECTION 7.0 &amp; 8.0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Data Structures &amp; Memory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579614"/>
            <a:ext cx="48196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Provides key-value currency pairs mapped to USD base rates.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8225" y="4326135"/>
            <a:ext cx="459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JetBrains Mono"/>
              </a:rPr>
              <a:t>"USD": 1.0, "EUR": 0.92, "INR": 83.50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43675" y="3579614"/>
            <a:ext cx="48196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Stores dynamic conversion outcome strings in order of occurrence.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57975" y="4326135"/>
            <a:ext cx="459105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0F172A"/>
                </a:solidFill>
                <a:latin typeface="JetBrains Mono"/>
              </a:rPr>
              <a:t>["100.00 USD -&gt; 8350.00 INR"]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184326"/>
            <a:ext cx="2325290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EXCHANGE_RATES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3425" y="3217664"/>
            <a:ext cx="11049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730A3"/>
                </a:solidFill>
                <a:latin typeface="Plus Jakarta Sans"/>
              </a:rPr>
              <a:t>Hash Map (Dict)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3675" y="3184326"/>
            <a:ext cx="2387798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transaction_history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10800" y="3217664"/>
            <a:ext cx="10572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730A3"/>
                </a:solidFill>
                <a:latin typeface="Plus Jakarta Sans"/>
              </a:rPr>
              <a:t>Sequential List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22426"/>
            <a:ext cx="3505200" cy="1346596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222426"/>
            <a:ext cx="3505200" cy="1346596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222426"/>
            <a:ext cx="3505200" cy="1346596"/>
          </a:xfrm>
          <a:prstGeom prst="roundRect">
            <a:avLst>
              <a:gd name="adj" fmla="val 848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SECTION 8.0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Design Decisions &amp;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98651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USD Base Pivot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12976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Reduces N*N conversion matrix down to N reference rates.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98651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Explicit Sanitization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12976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Applies `.strip().upper()` to prevent case mismatch errors.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98651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Early Exit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12976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Returns immediately upon error without executing bad math.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209925"/>
            <a:ext cx="6583709" cy="1295400"/>
          </a:xfrm>
          <a:prstGeom prst="roundRect">
            <a:avLst>
              <a:gd name="adj" fmla="val 882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498109" y="2686050"/>
            <a:ext cx="408429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498109" y="3933825"/>
            <a:ext cx="4084290" cy="1095375"/>
          </a:xfrm>
          <a:prstGeom prst="roundRect">
            <a:avLst>
              <a:gd name="adj" fmla="val 695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SECTION 9.0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Implementation &amp; Core Logic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3438525"/>
            <a:ext cx="76581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JetBrains Mono"/>
              </a:rPr>
              <a:t># Core Mathematical Conversion Routine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3705225"/>
            <a:ext cx="76581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8BDF8"/>
                </a:solidFill>
                <a:latin typeface="JetBrains Mono"/>
              </a:rPr>
              <a:t>def convert_currency(amount: float, source: str, target: str) -&gt; float: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3895725"/>
            <a:ext cx="74676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JetBrains Mono"/>
              </a:rPr>
              <a:t>amount_in_usd = amount / EXCHANGE_RATES[source]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4086225"/>
            <a:ext cx="74676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F8FAFC"/>
                </a:solidFill>
                <a:latin typeface="JetBrains Mono"/>
              </a:rPr>
              <a:t>return amount_in_usd * EXCHANGE_RATES[target]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8134" y="2886075"/>
            <a:ext cx="449386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Type Hints &amp; Docstrings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8134" y="3143250"/>
            <a:ext cx="377949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Ensures strong code readability and static type safety.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98134" y="4133850"/>
            <a:ext cx="449386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Two-Stage Math Operation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8134" y="4391025"/>
            <a:ext cx="377949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475569"/>
                </a:solidFill>
                <a:latin typeface="Plus Jakarta Sans"/>
              </a:rPr>
              <a:t>Converts source to USD base, then multiplies target 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6087"/>
            <a:ext cx="10972800" cy="1743075"/>
          </a:xfrm>
          <a:prstGeom prst="roundRect">
            <a:avLst>
              <a:gd name="adj" fmla="val 655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SECTION 10.0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Execution Results &amp; Terminal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5825" y="3262312"/>
            <a:ext cx="11306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94A3B8"/>
                </a:solidFill>
                <a:latin typeface="JetBrains Mono"/>
              </a:rPr>
              <a:t>--- Currency Conversion ---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538537"/>
            <a:ext cx="11306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JetBrains Mono"/>
              </a:rPr>
              <a:t>Enter source currency code (e.g., USD): </a:t>
            </a:r>
            <a:r>
              <a:rPr sz="1200" b="0" i="0" u="none">
                <a:solidFill>
                  <a:srgbClr val="4ADE80"/>
                </a:solidFill>
                <a:latin typeface="JetBrains Mono"/>
              </a:rPr>
              <a:t>USD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738562"/>
            <a:ext cx="11306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JetBrains Mono"/>
              </a:rPr>
              <a:t>Enter target currency code (e.g., INR): </a:t>
            </a:r>
            <a:r>
              <a:rPr sz="1200" b="0" i="0" u="none">
                <a:solidFill>
                  <a:srgbClr val="4ADE80"/>
                </a:solidFill>
                <a:latin typeface="JetBrains Mono"/>
              </a:rPr>
              <a:t>INR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938587"/>
            <a:ext cx="11306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JetBrains Mono"/>
              </a:rPr>
              <a:t>Enter amount to convert: </a:t>
            </a:r>
            <a:r>
              <a:rPr sz="1200" b="0" i="0" u="none">
                <a:solidFill>
                  <a:srgbClr val="4ADE80"/>
                </a:solidFill>
                <a:latin typeface="JetBrains Mono"/>
              </a:rP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4252912"/>
            <a:ext cx="113061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ADE80"/>
                </a:solidFill>
                <a:latin typeface="JetBrains Mono"/>
              </a:rPr>
              <a:t>[SUCCESS] Conversion Result: 100.00 USD -&gt; 8350.00 INR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02471"/>
            <a:ext cx="3505200" cy="1586507"/>
          </a:xfrm>
          <a:prstGeom prst="roundRect">
            <a:avLst>
              <a:gd name="adj" fmla="val 72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102471"/>
            <a:ext cx="3505200" cy="1586507"/>
          </a:xfrm>
          <a:prstGeom prst="roundRect">
            <a:avLst>
              <a:gd name="adj" fmla="val 72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102471"/>
            <a:ext cx="3505200" cy="1586507"/>
          </a:xfrm>
          <a:prstGeom prst="roundRect">
            <a:avLst>
              <a:gd name="adj" fmla="val 72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SECTION 11.0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Testing &amp; Edge Case Handling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378696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Key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693021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Checks currency presence in dictionary before accessing keys.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378696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Numerical Safety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693021"/>
            <a:ext cx="3048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Catches non-numeric inputs with explicit `try-except ValueError` blocks.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378696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Boundary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693021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Rejects negative values or zero amounts (`amount &lt;= 0`).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55689"/>
            <a:ext cx="5353050" cy="2480071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29350" y="2655689"/>
            <a:ext cx="5353050" cy="2480071"/>
          </a:xfrm>
          <a:prstGeom prst="roundRect">
            <a:avLst>
              <a:gd name="adj" fmla="val 460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925" y="4192785"/>
            <a:ext cx="4724400" cy="428625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43675" y="4192785"/>
            <a:ext cx="4724400" cy="628650"/>
          </a:xfrm>
          <a:prstGeom prst="roundRect">
            <a:avLst>
              <a:gd name="adj" fmla="val 909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SECTION 12.0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Engineering Challenges &amp;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60489"/>
            <a:ext cx="4838700" cy="1870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Plus Jakarta Sans"/>
              </a:rPr>
              <a:t>Challenge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2960489"/>
            <a:ext cx="4838700" cy="18704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EF4444"/>
                </a:solidFill>
                <a:latin typeface="Plus Jakarta Sans"/>
              </a:rPr>
              <a:t>Challenge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246239"/>
            <a:ext cx="62007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Floating Point Formatting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3560564"/>
            <a:ext cx="48196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Binary float representation causes trailing precision noise during conversion math.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225" y="4307085"/>
            <a:ext cx="459105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Solution:</a:t>
            </a:r>
            <a:r>
              <a:rPr sz="1200" b="0" i="0" u="none">
                <a:solidFill>
                  <a:srgbClr val="0F172A"/>
                </a:solidFill>
                <a:latin typeface="Plus Jakarta Sans"/>
              </a:rPr>
              <a:t> Enforced `.2f` string formatting specifier on outputs.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43675" y="3246239"/>
            <a:ext cx="56483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Interactive State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43675" y="3560564"/>
            <a:ext cx="481965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Unchecked exceptions crash the CLI loop and wipe session history logs.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7975" y="4307085"/>
            <a:ext cx="459105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Solution:</a:t>
            </a:r>
            <a:r>
              <a:rPr sz="1200" b="0" i="0" u="none">
                <a:solidFill>
                  <a:srgbClr val="0F172A"/>
                </a:solidFill>
                <a:latin typeface="Plus Jakarta Sans"/>
              </a:rPr>
              <a:t> Encapsulated options in defensive `while True` main loop.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02471"/>
            <a:ext cx="3505200" cy="1586507"/>
          </a:xfrm>
          <a:prstGeom prst="roundRect">
            <a:avLst>
              <a:gd name="adj" fmla="val 72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3102471"/>
            <a:ext cx="3505200" cy="1586507"/>
          </a:xfrm>
          <a:prstGeom prst="roundRect">
            <a:avLst>
              <a:gd name="adj" fmla="val 72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3102471"/>
            <a:ext cx="3505200" cy="1586507"/>
          </a:xfrm>
          <a:prstGeom prst="roundRect">
            <a:avLst>
              <a:gd name="adj" fmla="val 7204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SECTION 13.0 &amp; 15.0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Learnings &amp; 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378696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Defensive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693021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Gained practical experience in input validation and exception isolation.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378696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Data Structure 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693021"/>
            <a:ext cx="3048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Understood hash table speed advantages over linear array searching.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378696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Academic 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693021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475569"/>
                </a:solidFill>
                <a:latin typeface="Plus Jakarta Sans"/>
              </a:rPr>
              <a:t>Python Standard Docs, IEEE Floating Point Standard 754.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54821"/>
            <a:ext cx="3505200" cy="1586507"/>
          </a:xfrm>
          <a:prstGeom prst="roundRect">
            <a:avLst>
              <a:gd name="adj" fmla="val 720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854821"/>
            <a:ext cx="3505200" cy="1586507"/>
          </a:xfrm>
          <a:prstGeom prst="roundRect">
            <a:avLst>
              <a:gd name="adj" fmla="val 720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854821"/>
            <a:ext cx="3505200" cy="1586507"/>
          </a:xfrm>
          <a:prstGeom prst="roundRect">
            <a:avLst>
              <a:gd name="adj" fmla="val 720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1816596"/>
            <a:ext cx="1295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SECTION 14.0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2064246"/>
            <a:ext cx="8638579" cy="4857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F8FAFC"/>
                </a:solidFill>
                <a:latin typeface="Plus Jakarta Sans"/>
              </a:rPr>
              <a:t>Future Enhancements &amp;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4822328"/>
            <a:ext cx="47982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64748B"/>
                </a:solidFill>
                <a:latin typeface="Plus Jakarta Sans"/>
              </a:rPr>
              <a:t>Thank you for evaluating this project submission!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131046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Plus Jakarta Sans"/>
              </a:rPr>
              <a:t>Live API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445371"/>
            <a:ext cx="3048000" cy="7197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Connect `requests` to real-time Fixer or OpenExchange REST endpoints.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131046"/>
            <a:ext cx="3875484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Plus Jakarta Sans"/>
              </a:rPr>
              <a:t>SQLite 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9625" y="3445371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Replace volatile in-memory list with persistent SQL session storage.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131046"/>
            <a:ext cx="3838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Plus Jakarta Sans"/>
              </a:rPr>
              <a:t>GUI / Web Interface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3425" y="3445371"/>
            <a:ext cx="3048000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sz="1350" b="0" i="0" u="none">
                <a:solidFill>
                  <a:srgbClr val="94A3B8"/>
                </a:solidFill>
                <a:latin typeface="Plus Jakarta Sans"/>
              </a:rPr>
              <a:t>Extend CLI logic into a Tkinter desktop UI or FastAPI backend.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755</Words>
  <Application>Microsoft Office PowerPoint</Application>
  <PresentationFormat>Widescreen</PresentationFormat>
  <Paragraphs>131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Plus Jakarta Sans</vt:lpstr>
      <vt:lpstr>Calibri</vt:lpstr>
      <vt:lpstr>JetBrains Mono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Krishna Gopakumar</cp:lastModifiedBy>
  <cp:revision>1</cp:revision>
  <dcterms:created xsi:type="dcterms:W3CDTF">2013-01-27T09:14:16Z</dcterms:created>
  <dcterms:modified xsi:type="dcterms:W3CDTF">2026-09-29T18:38:51Z</dcterms:modified>
  <cp:category/>
</cp:coreProperties>
</file>